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982f99590f46d1" /><Relationship Type="http://schemas.openxmlformats.org/officeDocument/2006/relationships/extended-properties" Target="/docProps/app.xml" Id="R9053c8f095a14a7b" /><Relationship Type="http://schemas.openxmlformats.org/officeDocument/2006/relationships/officeDocument" Target="/ppt/presentation.xml" Id="R473816dd6d13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a306224614a22"/>
  </p:sldMasterIdLst>
  <p:notesMasterIdLst>
    <p:notesMasterId xmlns:r="http://schemas.openxmlformats.org/officeDocument/2006/relationships" r:id="R56bc094417794cfd"/>
  </p:notesMasterIdLst>
  <p:sldIdLst>
    <p:sldId xmlns:r="http://schemas.openxmlformats.org/officeDocument/2006/relationships" id="256" r:id="R12d8e5a6ec144d58"/>
    <p:sldId xmlns:r="http://schemas.openxmlformats.org/officeDocument/2006/relationships" id="257" r:id="Refef073fb78f4204"/>
    <p:sldId xmlns:r="http://schemas.openxmlformats.org/officeDocument/2006/relationships" id="258" r:id="Rd57a0bc6f2a1401e"/>
    <p:sldId xmlns:r="http://schemas.openxmlformats.org/officeDocument/2006/relationships" id="259" r:id="Rdf58a45c93624c52"/>
    <p:sldId xmlns:r="http://schemas.openxmlformats.org/officeDocument/2006/relationships" id="260" r:id="R2b5c8036e84948e1"/>
    <p:sldId xmlns:r="http://schemas.openxmlformats.org/officeDocument/2006/relationships" id="261" r:id="Raa72efbb98e04da4"/>
    <p:sldId xmlns:r="http://schemas.openxmlformats.org/officeDocument/2006/relationships" id="262" r:id="R42800559dfbc49cd"/>
    <p:sldId xmlns:r="http://schemas.openxmlformats.org/officeDocument/2006/relationships" id="263" r:id="R8f0f58e18520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b701f14ca6468a" /><Relationship Type="http://schemas.openxmlformats.org/officeDocument/2006/relationships/slideMaster" Target="/ppt/slideMasters/slideMaster1.xml" Id="Rfe6a306224614a22" /><Relationship Type="http://schemas.openxmlformats.org/officeDocument/2006/relationships/notesMaster" Target="/ppt/notesMasters/notesMaster1.xml" Id="R56bc094417794cfd" /><Relationship Type="http://schemas.openxmlformats.org/officeDocument/2006/relationships/presProps" Target="/ppt/presProps.xml" Id="Rb3e06922151a4ae3" /><Relationship Type="http://schemas.openxmlformats.org/officeDocument/2006/relationships/tableStyles" Target="/ppt/tableStyles.xml" Id="Rf37b3d2c4b154898" /><Relationship Type="http://schemas.openxmlformats.org/officeDocument/2006/relationships/slide" Target="/ppt/slides/slide1.xml" Id="R12d8e5a6ec144d58" /><Relationship Type="http://schemas.openxmlformats.org/officeDocument/2006/relationships/slide" Target="/ppt/slides/slide2.xml" Id="Refef073fb78f4204" /><Relationship Type="http://schemas.openxmlformats.org/officeDocument/2006/relationships/slide" Target="/ppt/slides/slide3.xml" Id="Rd57a0bc6f2a1401e" /><Relationship Type="http://schemas.openxmlformats.org/officeDocument/2006/relationships/slide" Target="/ppt/slides/slide4.xml" Id="Rdf58a45c93624c52" /><Relationship Type="http://schemas.openxmlformats.org/officeDocument/2006/relationships/slide" Target="/ppt/slides/slide5.xml" Id="R2b5c8036e84948e1" /><Relationship Type="http://schemas.openxmlformats.org/officeDocument/2006/relationships/slide" Target="/ppt/slides/slide6.xml" Id="Raa72efbb98e04da4" /><Relationship Type="http://schemas.openxmlformats.org/officeDocument/2006/relationships/slide" Target="/ppt/slides/slide7.xml" Id="R42800559dfbc49cd" /><Relationship Type="http://schemas.openxmlformats.org/officeDocument/2006/relationships/slide" Target="/ppt/slides/slide8.xml" Id="R8f0f58e18520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48cb49d68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625ed60e4b4b01" /><Relationship Type="http://schemas.openxmlformats.org/officeDocument/2006/relationships/notesMaster" Target="/ppt/notesMasters/notesMaster1.xml" Id="R27bc37be57164d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c9c8ef311490e" /><Relationship Type="http://schemas.openxmlformats.org/officeDocument/2006/relationships/notesMaster" Target="/ppt/notesMasters/notesMaster1.xml" Id="R476dea83648e4a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a294ebb4046db" /><Relationship Type="http://schemas.openxmlformats.org/officeDocument/2006/relationships/notesMaster" Target="/ppt/notesMasters/notesMaster1.xml" Id="Rd1d2a691ee09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901bd8018640ba" /><Relationship Type="http://schemas.openxmlformats.org/officeDocument/2006/relationships/notesMaster" Target="/ppt/notesMasters/notesMaster1.xml" Id="Rcba76ca87d7a49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7a04b20744377" /><Relationship Type="http://schemas.openxmlformats.org/officeDocument/2006/relationships/notesMaster" Target="/ppt/notesMasters/notesMaster1.xml" Id="R6d9e715fb2434b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e1ae42b25f4897" /><Relationship Type="http://schemas.openxmlformats.org/officeDocument/2006/relationships/notesMaster" Target="/ppt/notesMasters/notesMaster1.xml" Id="R707da4bb008946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0f329357c4b74" /><Relationship Type="http://schemas.openxmlformats.org/officeDocument/2006/relationships/notesMaster" Target="/ppt/notesMasters/notesMaster1.xml" Id="R749d7f3fb11d44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da9f28dbea4b18" /><Relationship Type="http://schemas.openxmlformats.org/officeDocument/2006/relationships/notesMaster" Target="/ppt/notesMasters/notesMaster1.xml" Id="R1143b756f269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SeaOfGoals repository development notes and experiment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ten fresh-workspace runs recorded in the SeaOfGoals port-widget experiment directories.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trace 3b63930a-0802-4315-b158-18ae269e1ed3. Phase totals overlap because goals execute concurrently.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fec7883eb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b7ec1c7a04350" /><Relationship Type="http://schemas.openxmlformats.org/officeDocument/2006/relationships/slideLayout" Target="/ppt/slideLayouts/slideLayout1.xml" Id="Ra9637cd6f41b47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37cd6f41b47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ab71706484597" /><Relationship Type="http://schemas.openxmlformats.org/officeDocument/2006/relationships/notesSlide" Target="/ppt/notesSlides/notesSlide1.xml" Id="Rf7bdd0de4ff1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3acffac694c23" /><Relationship Type="http://schemas.openxmlformats.org/officeDocument/2006/relationships/notesSlide" Target="/ppt/notesSlides/notesSlide2.xml" Id="Rc5980e93977c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5b7229c634416" /><Relationship Type="http://schemas.openxmlformats.org/officeDocument/2006/relationships/notesSlide" Target="/ppt/notesSlides/notesSlide3.xml" Id="R38bd5354825f41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7cda073e4d53" /><Relationship Type="http://schemas.openxmlformats.org/officeDocument/2006/relationships/notesSlide" Target="/ppt/notesSlides/notesSlide4.xml" Id="R7f664df8c1e647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782a0791a4737" /><Relationship Type="http://schemas.openxmlformats.org/officeDocument/2006/relationships/notesSlide" Target="/ppt/notesSlides/notesSlide5.xml" Id="R09259357e26f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b3aab6f184920" /><Relationship Type="http://schemas.openxmlformats.org/officeDocument/2006/relationships/notesSlide" Target="/ppt/notesSlides/notesSlide6.xml" Id="R194d6fb0e29f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577432a3b4dcc" /><Relationship Type="http://schemas.openxmlformats.org/officeDocument/2006/relationships/chart" Target="/ppt/slides/charts/chart1.xml" Id="R8342115c2da34be4" /><Relationship Type="http://schemas.openxmlformats.org/officeDocument/2006/relationships/notesSlide" Target="/ppt/notesSlides/notesSlide7.xml" Id="R582d1b9402764a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ed022a22c4aca" /><Relationship Type="http://schemas.openxmlformats.org/officeDocument/2006/relationships/chart" Target="/ppt/slides/charts/chart2.xml" Id="R7dc435cc7c73474d" /><Relationship Type="http://schemas.openxmlformats.org/officeDocument/2006/relationships/notesSlide" Target="/ppt/notesSlides/notesSlide8.xml" Id="R8f531300fa1e4d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Single Pi</c:v>
          </c:tx>
          <c:spPr>
            <a:ln xmlns:a="http://schemas.openxmlformats.org/drawingml/2006/main" w="28575">
              <a:solidFill>
                <a:srgbClr val="356DA5"/>
              </a:solidFill>
              <a:prstDash val="solid"/>
            </a:ln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169.8</c:v>
                </c:pt>
                <c:pt idx="1">
                  <c:v>174</c:v>
                </c:pt>
                <c:pt idx="2">
                  <c:v>181.4</c:v>
                </c:pt>
                <c:pt idx="3">
                  <c:v>189.7</c:v>
                </c:pt>
                <c:pt idx="4">
                  <c:v>201.1</c:v>
                </c:pt>
                <c:pt idx="5">
                  <c:v>212.4</c:v>
                </c:pt>
                <c:pt idx="6">
                  <c:v>219.8</c:v>
                </c:pt>
                <c:pt idx="7">
                  <c:v>222.9</c:v>
                </c:pt>
                <c:pt idx="8">
                  <c:v>229.4</c:v>
                </c:pt>
                <c:pt idx="9">
                  <c:v>357.8</c:v>
                </c:pt>
              </c:numCache>
            </c:numRef>
          </c:val>
        </c:ser>
        <c:ser>
          <c:idx val="1"/>
          <c:order val="1"/>
          <c:tx>
            <c:v>SoG concurrent</c:v>
          </c:tx>
          <c:spPr>
            <a:ln xmlns:a="http://schemas.openxmlformats.org/drawingml/2006/main" w="28575">
              <a:solidFill>
                <a:srgbClr val="147D78"/>
              </a:solidFill>
              <a:prstDash val="solid"/>
            </a:ln>
          </c:spPr>
          <c:marker>
            <c:symbol val="none"/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196.3</c:v>
                </c:pt>
                <c:pt idx="1">
                  <c:v>201.6</c:v>
                </c:pt>
                <c:pt idx="2">
                  <c:v>202.3</c:v>
                </c:pt>
                <c:pt idx="3">
                  <c:v>208.1</c:v>
                </c:pt>
                <c:pt idx="4">
                  <c:v>215.4</c:v>
                </c:pt>
                <c:pt idx="5">
                  <c:v>215.8</c:v>
                </c:pt>
                <c:pt idx="6">
                  <c:v>232.7</c:v>
                </c:pt>
                <c:pt idx="7">
                  <c:v>232.7</c:v>
                </c:pt>
                <c:pt idx="8">
                  <c:v>236.5</c:v>
                </c:pt>
                <c:pt idx="9">
                  <c:v>276.4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Run rank, fastest to slowest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Wall time, 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Model wait</c:v>
          </c:tx>
          <c:spPr>
            <a:solidFill xmlns:a="http://schemas.openxmlformats.org/drawingml/2006/main">
              <a:srgbClr val="A6AFB7"/>
            </a:solidFill>
          </c:spPr>
          <c:cat>
            <c:strRef>
              <c:f>'Chart Data'!$A$2:$A$10</c:f>
              <c:strCache>
                <c:ptCount val="9"/>
                <c:pt idx="0">
                  <c:v>G000</c:v>
                </c:pt>
                <c:pt idx="1">
                  <c:v>G001</c:v>
                </c:pt>
                <c:pt idx="2">
                  <c:v>G002</c:v>
                </c:pt>
                <c:pt idx="3">
                  <c:v>G003</c:v>
                </c:pt>
                <c:pt idx="4">
                  <c:v>G004</c:v>
                </c:pt>
                <c:pt idx="5">
                  <c:v>G005</c:v>
                </c:pt>
                <c:pt idx="6">
                  <c:v>G006</c:v>
                </c:pt>
                <c:pt idx="7">
                  <c:v>G007</c:v>
                </c:pt>
                <c:pt idx="8">
                  <c:v>G008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25.1</c:v>
                </c:pt>
                <c:pt idx="1">
                  <c:v>8.7</c:v>
                </c:pt>
                <c:pt idx="2">
                  <c:v>9.3</c:v>
                </c:pt>
                <c:pt idx="3">
                  <c:v>26.9</c:v>
                </c:pt>
                <c:pt idx="4">
                  <c:v>35.9</c:v>
                </c:pt>
                <c:pt idx="5">
                  <c:v>16.7</c:v>
                </c:pt>
                <c:pt idx="6">
                  <c:v>12.7</c:v>
                </c:pt>
                <c:pt idx="7">
                  <c:v>8.8</c:v>
                </c:pt>
                <c:pt idx="8">
                  <c:v>10.6</c:v>
                </c:pt>
              </c:numCache>
            </c:numRef>
          </c:val>
        </c:ser>
        <c:ser>
          <c:idx val="1"/>
          <c:order val="1"/>
          <c:tx>
            <c:v>Reasoning</c:v>
          </c:tx>
          <c:spPr>
            <a:solidFill xmlns:a="http://schemas.openxmlformats.org/drawingml/2006/main">
              <a:srgbClr val="7256D8"/>
            </a:solidFill>
          </c:spPr>
          <c:cat>
            <c:strRef>
              <c:f>'Chart Data'!$C$2:$C$10</c:f>
              <c:strCache>
                <c:ptCount val="9"/>
                <c:pt idx="0">
                  <c:v>G000</c:v>
                </c:pt>
                <c:pt idx="1">
                  <c:v>G001</c:v>
                </c:pt>
                <c:pt idx="2">
                  <c:v>G002</c:v>
                </c:pt>
                <c:pt idx="3">
                  <c:v>G003</c:v>
                </c:pt>
                <c:pt idx="4">
                  <c:v>G004</c:v>
                </c:pt>
                <c:pt idx="5">
                  <c:v>G005</c:v>
                </c:pt>
                <c:pt idx="6">
                  <c:v>G006</c:v>
                </c:pt>
                <c:pt idx="7">
                  <c:v>G007</c:v>
                </c:pt>
                <c:pt idx="8">
                  <c:v>G008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0.2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0.3</c:v>
                </c:pt>
                <c:pt idx="5">
                  <c:v>1.5</c:v>
                </c:pt>
                <c:pt idx="6">
                  <c:v>0.4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v>Generation</c:v>
          </c:tx>
          <c:spPr>
            <a:solidFill xmlns:a="http://schemas.openxmlformats.org/drawingml/2006/main">
              <a:srgbClr val="147D78"/>
            </a:solidFill>
          </c:spPr>
          <c:cat>
            <c:strRef>
              <c:f>'Chart Data'!$E$2:$E$10</c:f>
              <c:strCache>
                <c:ptCount val="9"/>
                <c:pt idx="0">
                  <c:v>G000</c:v>
                </c:pt>
                <c:pt idx="1">
                  <c:v>G001</c:v>
                </c:pt>
                <c:pt idx="2">
                  <c:v>G002</c:v>
                </c:pt>
                <c:pt idx="3">
                  <c:v>G003</c:v>
                </c:pt>
                <c:pt idx="4">
                  <c:v>G004</c:v>
                </c:pt>
                <c:pt idx="5">
                  <c:v>G005</c:v>
                </c:pt>
                <c:pt idx="6">
                  <c:v>G006</c:v>
                </c:pt>
                <c:pt idx="7">
                  <c:v>G007</c:v>
                </c:pt>
                <c:pt idx="8">
                  <c:v>G008</c:v>
                </c:pt>
              </c:strCache>
            </c:strRef>
          </c:cat>
          <c:val>
            <c:numRef>
              <c:f>'Chart Data'!$F$2:$F$10</c:f>
              <c:numCache>
                <c:formatCode>General</c:formatCode>
                <c:ptCount val="9"/>
                <c:pt idx="0">
                  <c:v>7</c:v>
                </c:pt>
                <c:pt idx="1">
                  <c:v>12.2</c:v>
                </c:pt>
                <c:pt idx="2">
                  <c:v>0.1</c:v>
                </c:pt>
                <c:pt idx="3">
                  <c:v>33.9</c:v>
                </c:pt>
                <c:pt idx="4">
                  <c:v>35.9</c:v>
                </c:pt>
                <c:pt idx="5">
                  <c:v>44.2</c:v>
                </c:pt>
                <c:pt idx="6">
                  <c:v>17.6</c:v>
                </c:pt>
                <c:pt idx="7">
                  <c:v>3.7</c:v>
                </c:pt>
                <c:pt idx="8">
                  <c:v>11.2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"/>
                    <a:ea typeface="Noto Sans"/>
                    <a:cs typeface="Noto Sans"/>
                  </a:rPr>
                  <a:t>Seconds; goal intervals overlap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74D91-F904-4DF4-86A9-C7A9082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695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SeaOfGoals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4AD1B-2B56-4BEF-BEDC-5A42471A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Speculative parallelism for agent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E0884-AB1F-46AE-8B02-87E4D0E6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Compile a written workflow into a task DAG, execute independent goals in isolated workspaces, and recover when runtime effects reveal a missing dependency.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CE015-D307-422F-8DA5-8A4D468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1476375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9525">
            <a:solidFill>
              <a:srgbClr val="356DA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583EA-B5CF-428E-9D59-7C7F925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0169E-8531-41E8-9814-6D98CF2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43450"/>
            <a:ext cx="1476375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2963B-AED2-4509-89AE-F707764D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19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3A295-1959-4E6E-A2E4-0C584BA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1476375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6E4D2"/>
          </a:solidFill>
          <a:ln xmlns:a="http://schemas.openxmlformats.org/drawingml/2006/main" w="9525">
            <a:solidFill>
              <a:srgbClr val="D77A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F463C-8CC5-41F3-80FA-5A61E942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28CC0-DCD8-4245-8518-1875381C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43450"/>
            <a:ext cx="1476375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1769A-79A7-4BC0-9907-324E8C2E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9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merge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81225" y="5038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10050" y="5038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38875" y="5038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22CE7-C146-43DB-AD56-F31564D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62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04608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CF13C-ACDA-42FF-A0D3-72385966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C0D54-F3FD-48A8-8F75-2C606926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E5675-EC79-4942-B9EC-3F79AA8A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77BE-52F0-4253-A064-F006B23C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Agent skills often describe a reliable serial workflow even when some steps could run concurrently.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4D6D1-D36D-4CDE-9FC0-5B14ECA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1C6CA-41A6-4BAE-AF30-A8E29F9D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B1B2D-1239-42C2-86D3-32CD6ED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Infer goal boundaries and real dependencies from the skill 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D34B4-8082-4040-AF57-7EE54BAD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1942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85154-8B41-46B6-B6EB-72BA5B8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872B4-4140-4B16-AB5F-65D93868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575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Execute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CEE46-50F8-455C-B8FA-84187115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Run ready goals concurrently in isolated workspaces.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5CAC4-18BB-4E68-BAC5-3C61A49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004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3BFBD-43D1-4BF0-86CD-5862F644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DC768-5C86-4AC9-86A1-FF58911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F288C-DA98-4EFA-ABF6-62D40471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Track filesystem reads and writes as runtime effects.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8B3CE-FA63-4087-AF1E-B4F2A11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8152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EA96F-F91C-4564-8419-B807E34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409A6-35A5-42FD-93C6-7EBF233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96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Recover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7E2E3-24D5-466C-9C68-482CBB7C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19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Add a missing dependency and rerun the later goal after a conflict.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50512-8924-47A7-A041-68C4F30B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Current scope: filesystem effects and end-to-end wall time</a:t>
            </a:r>
          </a:p>
        </p:txBody>
      </p:sp>
    </p:spTree>
    <p:extLst>
      <p:ext uri="{BB962C8B-B14F-4D97-AF65-F5344CB8AC3E}">
        <p14:creationId xmlns:p14="http://schemas.microsoft.com/office/powerpoint/2010/main" val="1215828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F4CC0-32DE-4A29-9ABB-DE0FC3CE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Execution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694C5-932E-4A03-A108-61529CF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E6598-E549-4E0F-83E0-815B0DF8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434C7-6D1D-432A-B1BD-ECDA3FED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6DA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356DA5"/>
                </a:solidFill>
                <a:latin typeface="Noto Sans"/>
                <a:ea typeface="Noto Sans"/>
                <a:cs typeface="Noto Sans"/>
              </a:rPr>
              <a:t>COMPILE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C6E03-4BD0-4597-B667-B3AFDD89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RUN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EFD23-5C30-446D-93B3-3A73752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DCE8F4"/>
          </a:solidFill>
          <a:ln xmlns:a="http://schemas.openxmlformats.org/drawingml/2006/main" w="9525">
            <a:solidFill>
              <a:srgbClr val="356D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B806E-3A4B-43A9-84AB-AB87DAE9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Raw skill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7303-072B-446F-BD8C-EFE1C1A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42875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D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8DCC2-DA37-489F-B37F-EBE96F5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D4501-D7CF-4085-B545-985B0688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17145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BE6B7-E689-4F97-A148-08751DD3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859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Ordered goal DAG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E8FBE-9C7B-4B7A-9BB7-1B534E3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161925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4C715-B858-4D13-AF98-A52013B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G000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A7DDE-1B81-4D1D-A1FA-EC589104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142875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3DDB0-26F2-4CFC-82AC-75542CD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Ready goals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D8CAA-B7ED-42CF-AFB6-4294A97A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09750"/>
            <a:ext cx="952500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E4D2"/>
          </a:solidFill>
          <a:ln xmlns:a="http://schemas.openxmlformats.org/drawingml/2006/main" w="9525">
            <a:solidFill>
              <a:srgbClr val="D77A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949F4-93EB-4CFC-BA5F-4586C89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859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Merge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2133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500" y="2133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172200" y="2133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48650" y="2133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134600" y="2133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6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80535-E00F-482C-8D85-7FFEEF28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572F6-8632-4354-A889-357FA6F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Host harness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0314F-9A59-47E3-A91C-AD0757E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Owns the DAG, scheduling state, goal prompts, traces, snapshots, conflict detection, and merge decisions.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0C79B6-2C90-4F57-902A-B6FDF45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Goal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19AC4-61E6-4CA6-905C-67B3166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481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Pi executes one goal per agent through bwrap. Every agent sees the stable path /workspace while the host manages separate snapshots.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2640A-50DC-496A-A119-1730B75E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76250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C9211-DB51-4D86-A5B9-9A77C7B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149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7D78"/>
                </a:solidFill>
                <a:latin typeface="Noto Sans Mono"/>
                <a:ea typeface="Noto Sans Mono"/>
                <a:cs typeface="Noto Sans Mono"/>
              </a:defRPr>
            </a:pPr>
            <a:r>
              <a:rPr sz="1425" b="1">
                <a:solidFill>
                  <a:srgbClr val="147D78"/>
                </a:solidFill>
                <a:latin typeface="Noto Sans Mono"/>
                <a:ea typeface="Noto Sans Mono"/>
                <a:cs typeface="Noto Sans Mono"/>
              </a:rPr>
              <a:t>/workspace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95B20-6C57-4B4D-9821-DB18EF0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1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stable agent-visible path</a:t>
            </a:r>
          </a:p>
        </p:txBody>
      </p:sp>
    </p:spTree>
    <p:extLst>
      <p:ext uri="{BB962C8B-B14F-4D97-AF65-F5344CB8AC3E}">
        <p14:creationId xmlns:p14="http://schemas.microsoft.com/office/powerpoint/2010/main" val="1966798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FC1C9-1307-4FF3-AE33-6223120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Conservative merge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85530-2AF3-46D2-AD6B-6F0636FD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62ED4-B943-4758-9080-4A05797B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21151-A173-4F6A-9BE7-0B217B3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CONFLICT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81C75-8044-4FD0-AA5D-99893863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  <a:latin typeface="Noto Sans Mono"/>
                <a:ea typeface="Noto Sans Mono"/>
                <a:cs typeface="Noto Sans Mono"/>
              </a:defRPr>
            </a:pPr>
            <a:r>
              <a:rPr sz="2025" b="1">
                <a:solidFill>
                  <a:srgbClr val="17212B"/>
                </a:solidFill>
                <a:latin typeface="Noto Sans Mono"/>
                <a:ea typeface="Noto Sans Mono"/>
                <a:cs typeface="Noto Sans Mono"/>
              </a:rPr>
              <a:t>A(Si) = R(Si) ∪ W(Si)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283F0-081E-41BC-911E-69EC3616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 b="0">
                <a:solidFill>
                  <a:srgbClr val="17212B"/>
                </a:solidFill>
                <a:latin typeface="Noto Sans Mono"/>
                <a:ea typeface="Noto Sans Mono"/>
                <a:cs typeface="Noto Sans Mono"/>
              </a:rPr>
              <a:t>conflict(Si,Sj) iff W(Si) ∩ A(Sj) ≠ ∅</a:t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 b="0">
                <a:solidFill>
                  <a:srgbClr val="17212B"/>
                </a:solidFill>
                <a:latin typeface="Noto Sans Mono"/>
                <a:ea typeface="Noto Sans Mono"/>
                <a:cs typeface="Noto Sans Mono"/>
              </a:rPr>
              <a:t>or W(Sj) ∩ A(Si) ≠ 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EAE9F-2EA9-4A8B-9D39-758BA5BE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Read/read overlap is allowed. Any overlap involving a write creates a conflict.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F1DBD-9AD5-4A06-9C51-AF10C476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1809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38CE6-3B91-4BDA-8951-5ECF6066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Earlier goal 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E2A07-FE70-4886-BD7C-9BFF966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00200"/>
            <a:ext cx="1809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6E4D2"/>
          </a:solidFill>
          <a:ln xmlns:a="http://schemas.openxmlformats.org/drawingml/2006/main" w="9525">
            <a:solidFill>
              <a:srgbClr val="D77A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05E58-FAA9-4D53-AD3C-ED583C4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Later goal Sj</a:t>
            </a:r>
          </a:p>
        </p:txBody>
      </p: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77250" y="193357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A24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859D0-FF2B-4799-9C2F-42D4B02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7430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conflict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D20BD-4591-4F9E-985E-A03B083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04E50-4C10-418B-A049-192726D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00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Keep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0337C-120B-4883-8A59-3E53898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Accept the earlier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2B0659-733C-4A6D-8EEA-8B7A29D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33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A2727-1A06-4F12-9F3B-ADC52A0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Add Si → Sj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CFEE7-1C9E-4FB2-8E64-EED24AC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06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Turn the observed conflict into a dependency.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29C29-43E5-4D06-9850-5628AE2B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4EDA2-48E8-4B63-BD88-0C16252E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48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99255-FAFD-4D8A-A3AC-E6E7DB49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45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Discard Sj and completed descendants.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7A343-7AEC-4B66-B282-3191C690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81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F518E-92B4-472D-A705-56542AB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72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50F79-40D4-40E2-B054-FCCFD7A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72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95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Resume from the merged workspace.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8F325-90A7-4DDC-A3D6-D2D34A1F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143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04650-9DF2-4525-802D-C5E4A57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Fallback invariant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DF749-30FE-46A0-945A-724DDBC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10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Failed speculation degrades toward the trusted serial workflow.</a:t>
            </a:r>
          </a:p>
        </p:txBody>
      </p:sp>
    </p:spTree>
    <p:extLst>
      <p:ext uri="{BB962C8B-B14F-4D97-AF65-F5344CB8AC3E}">
        <p14:creationId xmlns:p14="http://schemas.microsoft.com/office/powerpoint/2010/main" val="1614455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3E9BF-AFB1-4F7B-BD5C-2CC5BCE7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Reducing repeated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5FC80-0875-4312-B1C4-FB30716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D5F86-E6E5-4212-8C5E-404F9B4A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07D41-E047-4AFC-93E0-F131695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36667-229C-43AA-8504-AA576F5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9DFB-4F4A-4EA0-9BD8-9270A74D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6D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43B83-DBAD-4C71-BCB4-C8A5679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990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G000 inspects the workspace and predicts files or read-only actions. The harness executes them and injects ordinary tool-call results into the goal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9BCFB-345F-4D2E-8814-568B6F4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0180-C20B-43B6-8659-F366BFB0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Incremental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B50B9-9B9E-4E50-8DB3-7847FEA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7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4F2D3-1E09-4FEC-80A1-7768415F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2990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G000 can publish several independent goal plans in one response. A goal waits for its own plan rather than the complete planning pass.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49B7B-A78F-42D1-B129-95686AA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E2888-AC52-4339-9316-3827B4F6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50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Context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65EE8-FDD4-4881-8D81-3EDA3F0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7A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B74D8-EC02-4C17-8D65-670323FA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33909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Each goal starts with a fresh agent context. It receives explicit predecessor state and planned observations instead of ambient conversation history.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1B183-9994-4A92-9F59-B54BEC8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585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6752A-FA9D-4AD2-9A73-109A0ACF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Model-visible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4C64F-5654-4AB7-B8E4-EFA84F0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8F5F3"/>
                </a:solidFill>
                <a:latin typeface="Noto Sans Mono"/>
                <a:ea typeface="Noto Sans Mono"/>
                <a:cs typeface="Noto Sans Mono"/>
              </a:defRPr>
            </a:pPr>
            <a:r>
              <a:rPr sz="1425" b="0">
                <a:solidFill>
                  <a:srgbClr val="E8F5F3"/>
                </a:solidFill>
                <a:latin typeface="Noto Sans Mono"/>
                <a:ea typeface="Noto Sans Mono"/>
                <a:cs typeface="Noto Sans Mono"/>
              </a:rPr>
              <a:t>assistant tool call  +  real tool result  +  goal instruction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A61EB-F9AF-4BE4-A34F-5E7669EF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72125"/>
            <a:ext cx="752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5CB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B9C5CB"/>
                </a:solidFill>
                <a:latin typeface="Noto Sans"/>
                <a:ea typeface="Noto Sans"/>
                <a:cs typeface="Noto Sans"/>
              </a:rPr>
              <a:t>Preload is represented as normal history, not a privileged context channel.</a:t>
            </a:r>
          </a:p>
        </p:txBody>
      </p:sp>
    </p:spTree>
    <p:extLst>
      <p:ext uri="{BB962C8B-B14F-4D97-AF65-F5344CB8AC3E}">
        <p14:creationId xmlns:p14="http://schemas.microsoft.com/office/powerpoint/2010/main" val="85121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95FE77-443B-45CD-9095-F9FBD8B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Port-widget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65711-F804-47FD-A608-2F766E0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AE0FE-C9FC-4C8B-A051-C6F4D40A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F7DDA-CCFD-4BC1-8A0F-6A922C28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Port connectColorMenu across InstantSearch.js, React, Vue, common fixtures, and final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74DB6-0BF6-49B6-847D-C68BC1C3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6E630-0237-4F87-8227-21C7E83B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2859E-4C7B-431F-B3C0-82FC3B17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360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E4073-9CAE-4EFB-9781-3B736041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098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9111-A6C5-43A1-9B90-C2CEC265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8760-CFA3-4F94-B2D3-60DEE6C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78738-2807-4771-B528-7FFD7B2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954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9E19B-E163-4996-AC3B-B5089282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AA66A-3E91-43C0-94AC-EE247959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0915B-9C2D-4EFA-8179-1A49F13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A6CDC-C6AA-4883-97BA-5F3DB966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8EEEB"/>
          </a:solidFill>
          <a:ln xmlns:a="http://schemas.openxmlformats.org/drawingml/2006/main" w="9525">
            <a:solidFill>
              <a:srgbClr val="147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8C987-AD8B-4C2D-A4C2-6D5E2553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77960-4731-40EA-8EF1-FD87E226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E0BEC-D5E0-4E80-91D5-2546C18A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F8384-3BF0-465D-9AC5-691E37DD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05D86-5ACF-4192-A310-6D617AD9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F8112-90D7-460B-A47B-6EF4003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8763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AF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BE474-41E5-4B2F-8BA8-E9F71BF1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G008</a:t>
            </a:r>
          </a:p>
        </p:txBody>
      </p:sp>
      <p:cxnSp>
        <p:nvCxnSpPr>
          <p:cNvPr id="6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600200" y="23622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23622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4191000" y="1924050"/>
            <a:ext cx="74295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91000" y="2362200"/>
            <a:ext cx="742950" cy="247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2362200"/>
            <a:ext cx="74295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0250" y="1924050"/>
            <a:ext cx="9525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10250" y="26098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810250" y="2609850"/>
            <a:ext cx="9525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639050" y="2609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086850" y="2609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6AFB7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512812-30F7-493A-9B97-FF0C1141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parallel branch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10069-0645-47BD-9862-48896894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56DA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356DA5"/>
                </a:solidFill>
                <a:latin typeface="Noto Sans"/>
                <a:ea typeface="Noto Sans"/>
                <a:cs typeface="Noto Sans"/>
              </a:rPr>
              <a:t>SINGLE PI BASELINE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A9F8BB-5EF0-46BC-8DE7-DA047C1B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One Pi receives the full skill and follows its workflow. Parallel tool calls remain allowed within a turn.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F0B7C-005F-427F-A26E-9DFB9831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SEAOFGOALS CONCURRENT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BF064-9DC5-4A52-9B07-3EFFBC8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One Pi per goal. Ready goals run concurrently. G000 incremental planning and preload are enabled.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39B2FC-E00D-443D-BB2F-CE82B06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6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5F6B76"/>
                </a:solidFill>
                <a:latin typeface="Noto Sans Mono"/>
                <a:ea typeface="Noto Sans Mono"/>
                <a:cs typeface="Noto Sans Mono"/>
              </a:rPr>
              <a:t>Model: gpt-5.6    Fresh UUID workspace for every run</a:t>
            </a:r>
          </a:p>
        </p:txBody>
      </p:sp>
    </p:spTree>
    <p:extLst>
      <p:ext uri="{BB962C8B-B14F-4D97-AF65-F5344CB8AC3E}">
        <p14:creationId xmlns:p14="http://schemas.microsoft.com/office/powerpoint/2010/main" val="1454794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E8C8A-222D-44AE-BD89-281CE21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Wall time across ten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12DA0-D89C-40BF-9E4A-B6BBFF1C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70AF2-FBAF-4652-8E45-6B9477E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47700" y="1352550"/>
          <a:ext xmlns:a="http://schemas.openxmlformats.org/drawingml/2006/main" cx="771525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42115c2da34be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32A6B-FBF5-4883-B17F-D22FD346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4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MEDIAN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FC63F-51CB-4E88-9519-13DF5D7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6DA5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356DA5"/>
                </a:solidFill>
                <a:latin typeface="Noto Sans"/>
                <a:ea typeface="Noto Sans"/>
                <a:cs typeface="Noto Sans"/>
              </a:rPr>
              <a:t>206.8s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73F4D-3E05-450F-A1D2-F1043C8F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Single 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213E0-BEED-464B-915C-9E5EE8A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215.6s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568E5-CD3C-4E05-A62F-8928709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SoG concurrent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68D6D-1E5B-436E-A887-8B621490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21A2D-D1B4-473E-AE26-C81C7B4E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+8.8s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3870F-1790-412B-BB5D-7FE7AC1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median difference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42FA-3D13-4BAC-97F4-B5D7D52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105918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6B8DC-57AE-47D1-8F7C-D03BC899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Current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2E7B8-6A54-434C-9303-F0D26AA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62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No stable speedup yet. Concurrent runs vary less, but their median is slower.</a:t>
            </a:r>
          </a:p>
        </p:txBody>
      </p:sp>
    </p:spTree>
    <p:extLst>
      <p:ext uri="{BB962C8B-B14F-4D97-AF65-F5344CB8AC3E}">
        <p14:creationId xmlns:p14="http://schemas.microsoft.com/office/powerpoint/2010/main" val="1325888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44E82-8FB2-4016-AD38-5AF7B586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execution dominates the current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27EFB-41AD-4045-B398-E84E0B1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7A87D-A6A2-4FB2-8D92-7B9A478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DDF54-98EB-425A-9769-A9F0DDF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Summed phase time by goal in the latest instrumented concurrent run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7334250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435cc7c73474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DB58-AD47-4C90-8DA3-6049D7BE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36F6D-3F17-4ED8-80CB-F3C5460D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50E65-94CF-4786-9C77-F6299A9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1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Separate goal agents repeat some generation and exploration.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1E235-08B6-490E-B193-5C2230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93188-EC5C-4758-A4FA-384F62F0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289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G000 adds model calls before downstream work becomes 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57E1F-D397-4F14-A6B2-75E6E2B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147D78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98761-DD2B-49E0-9881-B58B5809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5F6B76"/>
                </a:solidFill>
                <a:latin typeface="Noto Sans"/>
                <a:ea typeface="Noto Sans"/>
                <a:cs typeface="Noto Sans"/>
              </a:rPr>
              <a:t>Provider latency dominates local filesystem tool execution.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68058-25EE-4DB5-91C7-9D1091A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B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2DD2C-EC53-4D0E-BBA8-201347FE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7A24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77A24"/>
                </a:solidFill>
                <a:latin typeface="Noto Sans"/>
                <a:ea typeface="Noto Sans"/>
                <a:cs typeface="Noto Sans"/>
              </a:rPr>
              <a:t>NEXT 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5527F-19B6-40D2-BDBA-B90B4E9C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 commands beyond file preload. Stream plans as each tool call completes. Test workflows with larger independent branches.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EFD4A-BAF8-46A1-B8A8-C40A2066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6B76"/>
                </a:solidFill>
                <a:latin typeface="Noto Sans Mono"/>
                <a:ea typeface="Noto Sans Mono"/>
                <a:cs typeface="Noto Sans Mono"/>
              </a:defRPr>
            </a:pPr>
            <a:r>
              <a:rPr sz="1125" b="0">
                <a:solidFill>
                  <a:srgbClr val="5F6B76"/>
                </a:solidFill>
                <a:latin typeface="Noto Sans Mono"/>
                <a:ea typeface="Noto Sans Mono"/>
                <a:cs typeface="Noto Sans Mono"/>
              </a:rPr>
              <a:t>Latest run wall time: 190.7s</a:t>
            </a:r>
          </a:p>
        </p:txBody>
      </p:sp>
    </p:spTree>
    <p:extLst>
      <p:ext uri="{BB962C8B-B14F-4D97-AF65-F5344CB8AC3E}">
        <p14:creationId xmlns:p14="http://schemas.microsoft.com/office/powerpoint/2010/main" val="773230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2026-09-12T08:11:16.4270000Z</dcterms:created>
  <dcterms:modified xsi:type="dcterms:W3CDTF">2026-09-12T08:11:16.4270000Z</dcterms:modified>
</coreProperties>
</file>